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custDataLst>
    <p:tags r:id="rId17"/>
  </p:custData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B880707-830B-48D1-ABB2-FE0B9929D4DB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79" d="100"/>
          <a:sy n="79" d="100"/>
        </p:scale>
        <p:origin x="15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CC9D1-71CC-4E05-93F1-E62C254EA526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5B40A7-E5BF-493B-A139-77AA025D55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5965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5B40A7-E5BF-493B-A139-77AA025D559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2177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635896" y="764704"/>
            <a:ext cx="5256584" cy="14700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292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9394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6702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816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62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6175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4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4299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38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002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65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2750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844824"/>
            <a:ext cx="8229600" cy="4680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4ECED3-1D46-4135-9C34-1A8A7AAF7909}" type="datetimeFigureOut">
              <a:rPr lang="ru-RU" smtClean="0"/>
              <a:t>19.02.2026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BF753A-9141-4C9F-932E-C055565D95D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16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22BC89-9174-565F-87B0-2654D2E347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35896" y="764704"/>
            <a:ext cx="5256584" cy="2376264"/>
          </a:xfrm>
        </p:spPr>
        <p:txBody>
          <a:bodyPr>
            <a:noAutofit/>
          </a:bodyPr>
          <a:lstStyle/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/>
              </a:rPr>
              <a:t>Тема: </a:t>
            </a:r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/>
                <a:latin typeface="Bahnschrift Condensed" panose="020B0502040204020203" pitchFamily="34" charset="0"/>
              </a:rPr>
              <a:t>Плюсы и минусы появления интернета в социальной культуре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effectLst/>
                <a:latin typeface="Bahnschrift Condensed" panose="020B0502040204020203" pitchFamily="34" charset="0"/>
              </a:rPr>
              <a:t> .</a:t>
            </a:r>
            <a:br>
              <a:rPr lang="ru-RU" sz="3600" dirty="0">
                <a:solidFill>
                  <a:schemeClr val="bg1">
                    <a:lumMod val="95000"/>
                  </a:schemeClr>
                </a:solidFill>
                <a:effectLst/>
                <a:latin typeface="Bahnschrift Condensed" panose="020B0502040204020203" pitchFamily="34" charset="0"/>
              </a:rPr>
            </a:br>
            <a:endParaRPr lang="ru-RU" sz="3600" dirty="0">
              <a:solidFill>
                <a:schemeClr val="bg1">
                  <a:lumMod val="95000"/>
                </a:schemeClr>
              </a:solidFill>
              <a:latin typeface="Bahnschrift Condensed" panose="020B0502040204020203" pitchFamily="34" charset="0"/>
            </a:endParaRP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8CD24CC7-7C21-A885-6A59-FD0B09E39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08520" y="4653136"/>
            <a:ext cx="6048672" cy="2592288"/>
          </a:xfrm>
        </p:spPr>
        <p:txBody>
          <a:bodyPr>
            <a:noAutofit/>
          </a:bodyPr>
          <a:lstStyle/>
          <a:p>
            <a:pPr algn="l"/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Segoe Script" panose="030B0504020000000003" pitchFamily="66" charset="0"/>
              </a:rPr>
              <a:t>Проект выполнила:</a:t>
            </a:r>
          </a:p>
          <a:p>
            <a:pPr algn="l"/>
            <a:r>
              <a:rPr lang="ru-RU" dirty="0" err="1">
                <a:solidFill>
                  <a:schemeClr val="bg1"/>
                </a:solidFill>
                <a:highlight>
                  <a:srgbClr val="C0C0C0"/>
                </a:highlight>
                <a:latin typeface="Segoe Script" panose="030B0504020000000003" pitchFamily="66" charset="0"/>
              </a:rPr>
              <a:t>Перенесиенко</a:t>
            </a:r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Segoe Script" panose="030B0504020000000003" pitchFamily="66" charset="0"/>
              </a:rPr>
              <a:t> Вера Васильевна</a:t>
            </a:r>
          </a:p>
          <a:p>
            <a:pPr algn="l"/>
            <a:r>
              <a:rPr lang="ru-RU" dirty="0">
                <a:solidFill>
                  <a:schemeClr val="bg1"/>
                </a:solidFill>
                <a:highlight>
                  <a:srgbClr val="C0C0C0"/>
                </a:highlight>
                <a:latin typeface="Segoe Script" panose="030B0504020000000003" pitchFamily="66" charset="0"/>
              </a:rPr>
              <a:t>«ГБОУ «СШ № 1»</a:t>
            </a:r>
          </a:p>
          <a:p>
            <a:endParaRPr lang="ru-RU" sz="4400" dirty="0">
              <a:solidFill>
                <a:schemeClr val="tx1">
                  <a:lumMod val="95000"/>
                  <a:lumOff val="5000"/>
                </a:schemeClr>
              </a:solidFill>
              <a:latin typeface="Segoe Script" panose="030B05040200000000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7244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2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25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37745D-36EB-21DD-0C0D-69AEA828F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3050"/>
            <a:ext cx="3008313" cy="2723902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25F5A-A052-B244-7E29-478C2F38F5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5896" y="980728"/>
            <a:ext cx="5050904" cy="568863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/>
              <a:t>    Задачи:</a:t>
            </a:r>
            <a:endParaRPr lang="ru-RU" dirty="0"/>
          </a:p>
          <a:p>
            <a:r>
              <a:rPr lang="ru-RU" sz="2600" dirty="0"/>
              <a:t> </a:t>
            </a:r>
            <a:r>
              <a:rPr lang="ru-RU" sz="2800" dirty="0">
                <a:latin typeface="Bahnschrift SemiLight Condensed" panose="020B0502040204020203" pitchFamily="34" charset="0"/>
              </a:rPr>
              <a:t>Изучить историю возникновения интернета.</a:t>
            </a:r>
          </a:p>
          <a:p>
            <a:pPr lvl="0"/>
            <a:r>
              <a:rPr lang="ru-RU" sz="2800" dirty="0">
                <a:latin typeface="Bahnschrift SemiLight Condensed" panose="020B0502040204020203" pitchFamily="34" charset="0"/>
              </a:rPr>
              <a:t>Выявить положительные и отрицательные последствия его внедрения в общество.</a:t>
            </a:r>
          </a:p>
          <a:p>
            <a:pPr lvl="0"/>
            <a:r>
              <a:rPr lang="ru-RU" sz="2800" dirty="0">
                <a:latin typeface="Bahnschrift SemiLight Condensed" panose="020B0502040204020203" pitchFamily="34" charset="0"/>
              </a:rPr>
              <a:t>Сделать выводы о балансе между пользой и вредом интернета.</a:t>
            </a:r>
          </a:p>
          <a:p>
            <a:endParaRPr lang="ru-RU" b="1" dirty="0">
              <a:latin typeface="Cascadia Code ExtraLight" panose="020B0609020000020004" pitchFamily="49" charset="0"/>
              <a:ea typeface="Cascadia Code ExtraLight" panose="020B0609020000020004" pitchFamily="49" charset="0"/>
              <a:cs typeface="Cascadia Code ExtraLight" panose="020B0609020000020004" pitchFamily="49" charset="0"/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24CA5E9-5C9C-9B1F-917A-2698855D7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528" y="2990073"/>
            <a:ext cx="3312368" cy="3319247"/>
          </a:xfrm>
        </p:spPr>
        <p:txBody>
          <a:bodyPr>
            <a:noAutofit/>
          </a:bodyPr>
          <a:lstStyle/>
          <a:p>
            <a:r>
              <a:rPr lang="ru-RU" sz="2600" b="1" u="sng" dirty="0"/>
              <a:t>Цель проекта</a:t>
            </a:r>
            <a:r>
              <a:rPr lang="ru-RU" sz="2600" u="sng" dirty="0"/>
              <a:t> </a:t>
            </a:r>
            <a:r>
              <a:rPr lang="ru-RU" sz="2600" dirty="0"/>
              <a:t>— </a:t>
            </a:r>
            <a:r>
              <a:rPr lang="ru-RU" sz="2600" i="1" dirty="0">
                <a:solidFill>
                  <a:schemeClr val="bg1">
                    <a:lumMod val="95000"/>
                  </a:schemeClr>
                </a:solidFill>
              </a:rPr>
              <a:t>проанализировать, как интернет повлиял на социальную культуру, выделив ключевые преимущества и риски.</a:t>
            </a:r>
          </a:p>
          <a:p>
            <a:endParaRPr lang="ru-RU" sz="280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A425652-B77A-94A8-76B4-06B593B13A8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8" y="332655"/>
            <a:ext cx="2962674" cy="2601987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0521126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2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75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00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F758876-A6D7-39C7-A7DB-218E44FC12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16632"/>
            <a:ext cx="4038600" cy="403244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sz="3000" b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Историческая справка: </a:t>
            </a:r>
            <a:r>
              <a:rPr lang="ru-RU" b="1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кратко о возникновении интернета.</a:t>
            </a:r>
            <a:endParaRPr lang="ru-RU" dirty="0">
              <a:latin typeface="Cascadia Mono SemiBold" panose="020B0609020000020004" pitchFamily="49" charset="0"/>
              <a:ea typeface="Cascadia Mono SemiBold" panose="020B0609020000020004" pitchFamily="49" charset="0"/>
              <a:cs typeface="Cascadia Mono SemiBold" panose="020B0609020000020004" pitchFamily="49" charset="0"/>
            </a:endParaRPr>
          </a:p>
          <a:p>
            <a:r>
              <a:rPr lang="ru-RU" sz="3100" dirty="0">
                <a:latin typeface="Cascadia Code Light" panose="020B0609020000020004" pitchFamily="49" charset="0"/>
                <a:ea typeface="Cascadia Code Light" panose="020B0609020000020004" pitchFamily="49" charset="0"/>
                <a:cs typeface="Cascadia Code Light" panose="020B0609020000020004" pitchFamily="49" charset="0"/>
              </a:rPr>
              <a:t>Интернет зародился в конце 1960-х годов в США как военный проект ARPANET, целью которого была создание устойчивой сети для обмена данными. 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01D09DE-0A09-4676-8A39-CDBE2EE0AA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40768"/>
            <a:ext cx="4038600" cy="5040560"/>
          </a:xfrm>
        </p:spPr>
        <p:txBody>
          <a:bodyPr>
            <a:noAutofit/>
          </a:bodyPr>
          <a:lstStyle/>
          <a:p>
            <a:r>
              <a:rPr lang="ru-RU" sz="3100" b="1" dirty="0">
                <a:latin typeface="Gabriola" panose="04040605051002020D02" pitchFamily="82" charset="0"/>
              </a:rPr>
              <a:t>В 1990-х годах, с изобретением Всемирной паутины (WWW) Тимом Бернерсом-Ли, интернет стал публичным и начал быстро распространяться по миру. Сегодня это глобальная сеть, объединяющая миллиарды пользователей.</a:t>
            </a:r>
          </a:p>
          <a:p>
            <a:endParaRPr lang="ru-RU" sz="32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0513DD4-FF09-C30E-33A5-C0F1A98F0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166" y="4005064"/>
            <a:ext cx="4038600" cy="2457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71083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E57CB-62E8-E242-7C6E-B5A6D49DB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684584" y="274638"/>
            <a:ext cx="7416824" cy="1143000"/>
          </a:xfrm>
        </p:spPr>
        <p:txBody>
          <a:bodyPr>
            <a:normAutofit fontScale="90000"/>
          </a:bodyPr>
          <a:lstStyle/>
          <a:p>
            <a:r>
              <a:rPr lang="ru-RU" sz="4300" b="1" dirty="0">
                <a:latin typeface="Franklin Gothic Demi Cond" panose="020B0706030402020204" pitchFamily="34" charset="0"/>
              </a:rPr>
              <a:t>Плюсы</a:t>
            </a:r>
            <a:r>
              <a:rPr lang="ru-RU" b="1" dirty="0">
                <a:latin typeface="Franklin Gothic Demi Cond" panose="020B0706030402020204" pitchFamily="34" charset="0"/>
              </a:rPr>
              <a:t> влияния интернета на социальную культуру.</a:t>
            </a:r>
            <a:endParaRPr lang="ru-RU" dirty="0">
              <a:latin typeface="Franklin Gothic Demi Cond" panose="020B07060304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D6278C-3697-4E49-BCFB-8A35E82A7A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sz="3000" b="1" dirty="0">
                <a:latin typeface="Comic Sans MS" panose="030F0702030302020204" pitchFamily="66" charset="0"/>
                <a:ea typeface="Cascadia Code" panose="020B0609020000020004" pitchFamily="49" charset="0"/>
                <a:cs typeface="Cascadia Code" panose="020B0609020000020004" pitchFamily="49" charset="0"/>
              </a:rPr>
              <a:t>Доступ к информации:</a:t>
            </a:r>
            <a:r>
              <a:rPr lang="ru-RU" sz="3000" dirty="0">
                <a:latin typeface="Book Antiqua" panose="02040602050305030304" pitchFamily="18" charset="0"/>
                <a:ea typeface="Cascadia Code" panose="020B0609020000020004" pitchFamily="49" charset="0"/>
                <a:cs typeface="Cascadia Code" panose="020B0609020000020004" pitchFamily="49" charset="0"/>
              </a:rPr>
              <a:t> </a:t>
            </a:r>
            <a:r>
              <a:rPr lang="ru-RU" sz="3300" dirty="0">
                <a:latin typeface="Book Antiqua" panose="02040602050305030304" pitchFamily="18" charset="0"/>
              </a:rPr>
              <a:t>Ин-</a:t>
            </a:r>
            <a:r>
              <a:rPr lang="ru-RU" sz="3300" dirty="0" err="1">
                <a:latin typeface="Book Antiqua" panose="02040602050305030304" pitchFamily="18" charset="0"/>
              </a:rPr>
              <a:t>тернет</a:t>
            </a:r>
            <a:r>
              <a:rPr lang="ru-RU" sz="3300" dirty="0">
                <a:latin typeface="Book Antiqua" panose="02040602050305030304" pitchFamily="18" charset="0"/>
              </a:rPr>
              <a:t> стирает географические границы в образовании и знаниях. Любой человек может учиться онлайн, читать книги, смотреть лекции ведущих университетов.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36208E1-FFFC-DD38-EEC2-F25958DF4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2778" y="2960425"/>
            <a:ext cx="4244280" cy="3600400"/>
          </a:xfrm>
        </p:spPr>
        <p:txBody>
          <a:bodyPr>
            <a:normAutofit fontScale="85000" lnSpcReduction="20000"/>
          </a:bodyPr>
          <a:lstStyle/>
          <a:p>
            <a:r>
              <a:rPr lang="ru-RU" sz="3000" b="1" dirty="0">
                <a:latin typeface="Comic Sans MS" panose="030F0702030302020204" pitchFamily="66" charset="0"/>
              </a:rPr>
              <a:t>Глобальное общение:</a:t>
            </a:r>
            <a:r>
              <a:rPr lang="ru-RU" sz="3000" dirty="0">
                <a:latin typeface="Comic Sans MS" panose="030F0702030302020204" pitchFamily="66" charset="0"/>
              </a:rPr>
              <a:t> </a:t>
            </a:r>
            <a:r>
              <a:rPr lang="ru-RU" sz="3300" dirty="0">
                <a:latin typeface="Candara" panose="020E0502030303020204" pitchFamily="34" charset="0"/>
              </a:rPr>
              <a:t>Социальные сети, мессенджеры и видеозвонки позволяют поддерживать связь с друзьями и родными по всему миру, находить единомышленников</a:t>
            </a:r>
            <a:r>
              <a:rPr lang="ru-RU" sz="3000" dirty="0"/>
              <a:t>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A097214-9CA5-72D7-6771-536ACCE1B2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0"/>
            <a:ext cx="3059832" cy="24208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13773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restig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34467-06BA-04CE-91E0-2F01141C6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755576" y="4149080"/>
            <a:ext cx="2952328" cy="194421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08C357-5EFD-94F3-D678-3BFB95EF52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36512" y="188640"/>
            <a:ext cx="4684712" cy="6912768"/>
          </a:xfrm>
        </p:spPr>
        <p:txBody>
          <a:bodyPr>
            <a:normAutofit lnSpcReduction="10000"/>
          </a:bodyPr>
          <a:lstStyle/>
          <a:p>
            <a:r>
              <a:rPr lang="ru-RU" sz="3200" b="1" dirty="0">
                <a:latin typeface="Bahnschrift" panose="020B0502040204020203" pitchFamily="34" charset="0"/>
              </a:rPr>
              <a:t>Развитие цифрового творчества:</a:t>
            </a:r>
            <a:r>
              <a:rPr lang="ru-RU" sz="3200" dirty="0">
                <a:latin typeface="Bahnschrift" panose="020B0502040204020203" pitchFamily="34" charset="0"/>
              </a:rPr>
              <a:t> </a:t>
            </a:r>
            <a:r>
              <a:rPr lang="ru-RU" sz="3200" dirty="0">
                <a:latin typeface="Arial Narrow" panose="020B0606020202030204" pitchFamily="34" charset="0"/>
              </a:rPr>
              <a:t>Появились новые формы искусства (цифровая графика, блогинг, подкасты), платформы для самореализации (YouTube, TikTok).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027930-79A8-A306-56E4-58C57A7512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2492896"/>
            <a:ext cx="4038600" cy="4176464"/>
          </a:xfrm>
        </p:spPr>
        <p:txBody>
          <a:bodyPr>
            <a:normAutofit lnSpcReduction="10000"/>
          </a:bodyPr>
          <a:lstStyle/>
          <a:p>
            <a:r>
              <a:rPr lang="ru-RU" sz="3200" b="1" dirty="0"/>
              <a:t>Упрощение повседневной жизни:</a:t>
            </a:r>
            <a:r>
              <a:rPr lang="ru-RU" sz="3200" dirty="0"/>
              <a:t> </a:t>
            </a:r>
            <a:r>
              <a:rPr lang="ru-RU" sz="3200" dirty="0">
                <a:latin typeface="Bahnschrift Light" panose="020B0502040204020203" pitchFamily="34" charset="0"/>
              </a:rPr>
              <a:t>Онлайн-покупки, доставка еды, электронные госуслуги, навигаторы экономят время и ресурсы.</a:t>
            </a:r>
          </a:p>
          <a:p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C4D6FFD-6539-C434-A736-769089250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16632"/>
            <a:ext cx="3954978" cy="230425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AFEB100-AA92-0707-6C3B-52E59727F8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4077072"/>
            <a:ext cx="3528392" cy="223224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3473150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wipe dir="d"/>
      </p:transition>
    </mc:Choice>
    <mc:Fallback xmlns="">
      <p:transition spd="slow">
        <p:wipe dir="d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53" presetClass="entr" presetSubtype="52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68303-8AD1-DEAD-70AE-15134C53E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-2196752" y="274638"/>
            <a:ext cx="2088232" cy="3096344"/>
          </a:xfrm>
        </p:spPr>
        <p:txBody>
          <a:bodyPr>
            <a:normAutofit/>
          </a:bodyPr>
          <a:lstStyle/>
          <a:p>
            <a:r>
              <a:rPr lang="ru-RU" dirty="0"/>
              <a:t> 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21A2C8-8FAF-3D81-5A3C-12D1038CE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74638"/>
            <a:ext cx="6372200" cy="4666530"/>
          </a:xfrm>
        </p:spPr>
        <p:txBody>
          <a:bodyPr/>
          <a:lstStyle/>
          <a:p>
            <a:r>
              <a:rPr lang="ru-RU" sz="4000" b="1" dirty="0">
                <a:latin typeface="Ink Free" panose="03080402000500000000" pitchFamily="66" charset="0"/>
              </a:rPr>
              <a:t>Формирование новых сообществ: </a:t>
            </a:r>
            <a:r>
              <a:rPr lang="ru-RU" sz="3600" dirty="0">
                <a:latin typeface="Monotype Corsiva" panose="03010101010201010101" pitchFamily="66" charset="0"/>
              </a:rPr>
              <a:t>Люди с общими интересами (хобби, профессиональные сферы, поддержка) объединяются в онлайн-группы, что укрепляет социальные связи.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6BF971F-871E-500B-73A5-A2D0E0F0F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024" y="3789040"/>
            <a:ext cx="4046419" cy="258229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71473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3919F8-8D53-EEE8-3352-2B40EB0AA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979" y="404664"/>
            <a:ext cx="6275040" cy="1642194"/>
          </a:xfrm>
        </p:spPr>
        <p:txBody>
          <a:bodyPr>
            <a:normAutofit fontScale="90000"/>
          </a:bodyPr>
          <a:lstStyle/>
          <a:p>
            <a:r>
              <a:rPr lang="ru-RU" sz="4000" b="1" dirty="0">
                <a:latin typeface="Comic Sans MS" panose="030F0702030302020204" pitchFamily="66" charset="0"/>
                <a:ea typeface="Segoe UI Symbol" panose="020B0502040204020203" pitchFamily="34" charset="0"/>
              </a:rPr>
              <a:t>Минусы влияния интернета на социальную культуру.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A224E6-28D1-D033-E2D0-71805720DA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772816"/>
            <a:ext cx="4038600" cy="4536504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ru-RU" sz="4200" b="1" dirty="0">
                <a:latin typeface="Monotype Corsiva" panose="03010101010201010101" pitchFamily="66" charset="0"/>
              </a:rPr>
              <a:t>Цифровая зависимость: </a:t>
            </a:r>
            <a:r>
              <a:rPr lang="ru-RU" sz="4200" dirty="0">
                <a:latin typeface="Gabriola" panose="04040605051002020D02" pitchFamily="82" charset="0"/>
              </a:rPr>
              <a:t>Многие люди, особенно подростки, проводят в сети слишком много времени, что ведет к потере концентрации, проблемам со сном и здоровьем.</a:t>
            </a:r>
          </a:p>
          <a:p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6718AA0B-9C62-4301-231E-9492FD9DBF9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2940" y="2117579"/>
            <a:ext cx="4038600" cy="4038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925872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D4BC2-D9DB-0C53-CC04-3FC4C7A28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400970" y="4077072"/>
            <a:ext cx="4316288" cy="223224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DBF040-45A7-4F91-BA6C-DD4524D6F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56" y="1"/>
            <a:ext cx="4316288" cy="3933056"/>
          </a:xfrm>
        </p:spPr>
        <p:txBody>
          <a:bodyPr>
            <a:normAutofit/>
          </a:bodyPr>
          <a:lstStyle/>
          <a:p>
            <a:r>
              <a:rPr lang="ru-RU" b="1" dirty="0">
                <a:latin typeface="Cascadia Mono SemiLight" panose="020B0609020000020004" pitchFamily="49" charset="0"/>
                <a:ea typeface="Cascadia Mono SemiLight" panose="020B0609020000020004" pitchFamily="49" charset="0"/>
                <a:cs typeface="Cascadia Mono SemiLight" panose="020B0609020000020004" pitchFamily="49" charset="0"/>
              </a:rPr>
              <a:t>Кибербуллинг и нарушения приватности: </a:t>
            </a:r>
            <a:r>
              <a:rPr lang="ru-RU" dirty="0" err="1">
                <a:latin typeface="Constantia" panose="02030602050306030303" pitchFamily="18" charset="0"/>
              </a:rPr>
              <a:t>Ано-нимность</a:t>
            </a:r>
            <a:r>
              <a:rPr lang="ru-RU" dirty="0">
                <a:latin typeface="Constantia" panose="02030602050306030303" pitchFamily="18" charset="0"/>
              </a:rPr>
              <a:t> интернета способствует травле, распространению ложной информации и нарушению личных границ.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A3A04C9-1BBC-4285-1A76-18C6EE5DE4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09880" y="2060848"/>
            <a:ext cx="4316288" cy="4536504"/>
          </a:xfrm>
        </p:spPr>
        <p:txBody>
          <a:bodyPr>
            <a:normAutofit/>
          </a:bodyPr>
          <a:lstStyle/>
          <a:p>
            <a:r>
              <a:rPr lang="ru-RU" sz="3200" b="1" dirty="0">
                <a:latin typeface="Monotype Corsiva" panose="03010101010201010101" pitchFamily="66" charset="0"/>
              </a:rPr>
              <a:t>Разрыв реальных социальных связей:</a:t>
            </a:r>
            <a:r>
              <a:rPr lang="ru-RU" sz="3200" dirty="0">
                <a:latin typeface="Monotype Corsiva" panose="03010101010201010101" pitchFamily="66" charset="0"/>
              </a:rPr>
              <a:t> </a:t>
            </a:r>
            <a:r>
              <a:rPr lang="ru-RU" dirty="0">
                <a:latin typeface="Bookman Old Style" panose="02050604050505020204" pitchFamily="18" charset="0"/>
              </a:rPr>
              <a:t>Живое общение часто заменяется виртуальным, что может привести к одиночеству и снижению эмпатии.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80FD99E-9C0D-F4C6-F9D8-72C2F9BC82D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62" y="3933057"/>
            <a:ext cx="4535262" cy="26642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95199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push/>
      </p:transition>
    </mc:Choice>
    <mc:Fallback xmlns="">
      <p:transition spd="slow">
        <p:push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2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3DF7E7-96FD-9CCE-BC14-0D4A19CB5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55576" y="4797152"/>
            <a:ext cx="2592287" cy="1329011"/>
          </a:xfrm>
        </p:spPr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94FA9A-8D46-4941-6B72-6F7088B4C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-36512" y="116632"/>
            <a:ext cx="4510400" cy="6009531"/>
          </a:xfrm>
        </p:spPr>
        <p:txBody>
          <a:bodyPr>
            <a:normAutofit/>
          </a:bodyPr>
          <a:lstStyle/>
          <a:p>
            <a:r>
              <a:rPr lang="ru-RU" sz="30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Информационный шум и фейки:</a:t>
            </a:r>
            <a:r>
              <a:rPr lang="ru-RU" sz="3000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 </a:t>
            </a:r>
            <a:r>
              <a:rPr lang="ru-RU" sz="3000" dirty="0">
                <a:latin typeface="Sitka Banner Semibold" pitchFamily="2" charset="0"/>
              </a:rPr>
              <a:t>Избыток информации, включая недостоверную, затрудняет поиск правды и формирует искаженную картину мира.</a:t>
            </a:r>
          </a:p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DD48304-502C-CDE0-EADB-5FAFE0B9F9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0114" y="1772816"/>
            <a:ext cx="4294374" cy="4680520"/>
          </a:xfrm>
        </p:spPr>
        <p:txBody>
          <a:bodyPr>
            <a:normAutofit/>
          </a:bodyPr>
          <a:lstStyle/>
          <a:p>
            <a:r>
              <a:rPr lang="ru-RU" b="1" dirty="0">
                <a:latin typeface="Franklin Gothic Demi" panose="020B0703020102020204" pitchFamily="34" charset="0"/>
              </a:rPr>
              <a:t>Унификация и потеря культурного разнообразия:</a:t>
            </a:r>
            <a:r>
              <a:rPr lang="ru-RU" dirty="0">
                <a:latin typeface="Franklin Gothic Demi" panose="020B0703020102020204" pitchFamily="34" charset="0"/>
              </a:rPr>
              <a:t> </a:t>
            </a:r>
            <a:r>
              <a:rPr lang="ru-RU" dirty="0">
                <a:latin typeface="Palatino Linotype" panose="02040502050505030304" pitchFamily="18" charset="0"/>
              </a:rPr>
              <a:t>Глоба-</a:t>
            </a:r>
            <a:r>
              <a:rPr lang="ru-RU" dirty="0" err="1">
                <a:latin typeface="Palatino Linotype" panose="02040502050505030304" pitchFamily="18" charset="0"/>
              </a:rPr>
              <a:t>лизация</a:t>
            </a:r>
            <a:r>
              <a:rPr lang="ru-RU" dirty="0">
                <a:latin typeface="Palatino Linotype" panose="02040502050505030304" pitchFamily="18" charset="0"/>
              </a:rPr>
              <a:t> через интернет иногда приводит к доминированию массовой культуры и забвению локальных традиций.</a:t>
            </a:r>
          </a:p>
          <a:p>
            <a:endParaRPr lang="ru-RU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A8E77179-0A28-DD01-EBA2-59259B6813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8" y="3933056"/>
            <a:ext cx="3812283" cy="2428399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32512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25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7D918-51A7-3449-0DEE-7FFB1DFAA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620688"/>
            <a:ext cx="3096344" cy="576064"/>
          </a:xfrm>
        </p:spPr>
        <p:txBody>
          <a:bodyPr>
            <a:normAutofit fontScale="90000"/>
          </a:bodyPr>
          <a:lstStyle/>
          <a:p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8F0AE8-8D2E-08AC-0B6A-776E4A871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Анализ противоречий: баланс между плюсами и минусами</a:t>
            </a:r>
            <a:endParaRPr lang="ru-RU" dirty="0">
              <a:latin typeface="Bookman Old Style" panose="02050604050505020204" pitchFamily="18" charset="0"/>
            </a:endParaRPr>
          </a:p>
          <a:p>
            <a:r>
              <a:rPr lang="ru-RU" sz="3700" dirty="0">
                <a:latin typeface="Gabriola" panose="04040605051002020D02" pitchFamily="82" charset="0"/>
              </a:rPr>
              <a:t>Интернет — это инструмент, эффект от которого зависит от того, как мы его используем. Например, социальные сети могут как объединять людей, так и разобщать их. Ключ — в цифровой грамотности: умении критически оценивать информацию, соблюдать баланс между онлайн- и офлайн-жизнью, уважать других в сети. Роль семьи и школы в воспитании ответственного пользователя интернета крайне важна.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C46879-9146-51F1-B394-1D721646AF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6632"/>
            <a:ext cx="3970784" cy="15841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38813786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250"/>
                            </p:stCondLst>
                            <p:childTnLst>
                              <p:par>
                                <p:cTn id="11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ADC364-98C4-E177-CE3D-1E7AFCDA9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3371974"/>
          </a:xfrm>
        </p:spPr>
        <p:txBody>
          <a:bodyPr>
            <a:normAutofit/>
          </a:bodyPr>
          <a:lstStyle/>
          <a:p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ED6100-3FB0-13BA-EDE1-5EED7E0BB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32"/>
            <a:ext cx="4139952" cy="6408712"/>
          </a:xfrm>
        </p:spPr>
        <p:txBody>
          <a:bodyPr>
            <a:normAutofit fontScale="25000" lnSpcReduction="20000"/>
          </a:bodyPr>
          <a:lstStyle/>
          <a:p>
            <a:pPr lvl="0"/>
            <a:r>
              <a:rPr lang="ru-RU" sz="10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90% проводят в интернете более 3 часов в день.</a:t>
            </a:r>
          </a:p>
          <a:p>
            <a:pPr lvl="0"/>
            <a:r>
              <a:rPr lang="ru-RU" sz="10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70% считают, что интернет помогает в учебе и общении.</a:t>
            </a:r>
          </a:p>
          <a:p>
            <a:pPr lvl="0"/>
            <a:r>
              <a:rPr lang="ru-RU" sz="10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40% сталкивались с кибербуллингом или фейками.</a:t>
            </a:r>
          </a:p>
          <a:p>
            <a:pPr lvl="0"/>
            <a:r>
              <a:rPr lang="ru-RU" sz="10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60% признались, что иногда предпочитают онлайн-общение живому.</a:t>
            </a:r>
          </a:p>
          <a:p>
            <a:pPr lvl="0"/>
            <a:r>
              <a:rPr lang="ru-RU" sz="10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85% согласны, что важно учиться безопасному поведению в сети.</a:t>
            </a:r>
          </a:p>
          <a:p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A33B40B-FB0F-DD73-E19C-814ECB6112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11960" y="3861048"/>
            <a:ext cx="4608512" cy="2520280"/>
          </a:xfrm>
        </p:spPr>
        <p:txBody>
          <a:bodyPr/>
          <a:lstStyle/>
          <a:p>
            <a:r>
              <a:rPr lang="ru-RU" sz="2800" dirty="0">
                <a:latin typeface="Bookman Old Style" panose="02050604050505020204" pitchFamily="18" charset="0"/>
              </a:rPr>
              <a:t>Был проведен опрос среди 50 </a:t>
            </a:r>
            <a:r>
              <a:rPr lang="ru-RU" sz="3200" dirty="0">
                <a:latin typeface="Bookman Old Style" panose="02050604050505020204" pitchFamily="18" charset="0"/>
              </a:rPr>
              <a:t>учеников</a:t>
            </a:r>
            <a:r>
              <a:rPr lang="ru-RU" sz="2800" dirty="0">
                <a:latin typeface="Bookman Old Style" panose="02050604050505020204" pitchFamily="18" charset="0"/>
              </a:rPr>
              <a:t> нашей школы (возраст 14–16 лет). </a:t>
            </a:r>
            <a:r>
              <a:rPr lang="ru-RU" sz="2800" b="1" dirty="0">
                <a:latin typeface="Bookman Old Style" panose="02050604050505020204" pitchFamily="18" charset="0"/>
              </a:rPr>
              <a:t>Основные результаты:</a:t>
            </a:r>
            <a:endParaRPr lang="ru-RU" sz="2800" dirty="0">
              <a:latin typeface="Bookman Old Style" panose="02050604050505020204" pitchFamily="18" charset="0"/>
            </a:endParaRP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2D95E7-789B-EC56-22A3-81058FF3361A}"/>
              </a:ext>
            </a:extLst>
          </p:cNvPr>
          <p:cNvSpPr txBox="1"/>
          <p:nvPr/>
        </p:nvSpPr>
        <p:spPr>
          <a:xfrm>
            <a:off x="4283968" y="1959037"/>
            <a:ext cx="4680520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Практическая часть: </a:t>
            </a:r>
            <a:r>
              <a:rPr lang="ru-RU" sz="3200" b="1" dirty="0">
                <a:solidFill>
                  <a:schemeClr val="bg1"/>
                </a:solidFill>
                <a:latin typeface="Arial Narrow" panose="020B0606020202030204" pitchFamily="34" charset="0"/>
              </a:rPr>
              <a:t>результаты</a:t>
            </a:r>
            <a:r>
              <a:rPr lang="ru-RU" sz="3000" b="1" dirty="0">
                <a:solidFill>
                  <a:schemeClr val="bg1"/>
                </a:solidFill>
                <a:latin typeface="Arial Narrow" panose="020B0606020202030204" pitchFamily="34" charset="0"/>
              </a:rPr>
              <a:t> опроса среди сверстников</a:t>
            </a:r>
            <a:endParaRPr lang="ru-RU" sz="3000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910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75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12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25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5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CBEE5-B773-B0CC-E333-C261E329D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116632"/>
            <a:ext cx="4392488" cy="1368152"/>
          </a:xfrm>
        </p:spPr>
        <p:txBody>
          <a:bodyPr>
            <a:normAutofit/>
          </a:bodyPr>
          <a:lstStyle/>
          <a:p>
            <a:r>
              <a:rPr lang="ru-RU" b="1" dirty="0">
                <a:latin typeface="Franklin Gothic Demi Cond" panose="020B0706030402020204" pitchFamily="34" charset="0"/>
              </a:rPr>
              <a:t>Вывод по опросу:</a:t>
            </a:r>
            <a:endParaRPr lang="ru-RU" dirty="0">
              <a:latin typeface="Franklin Gothic Demi Cond" panose="020B0706030402020204" pitchFamily="34" charset="0"/>
            </a:endParaRP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EB1D9EC-6DB6-C1AF-61F7-EF155D0397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504" y="1844824"/>
            <a:ext cx="8856984" cy="3456384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Comic Sans MS" panose="030F0702030302020204" pitchFamily="66" charset="0"/>
              </a:rPr>
              <a:t>Подростки активно используют интернет и видят его пользу, но многие уже столкнулись с негативными сторонами, что подтверждает необходимость работы над цифровой культурой.</a:t>
            </a:r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C353CAF-79B3-C02F-4833-8674F23D8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 flipH="1">
            <a:off x="-2124744" y="1844824"/>
            <a:ext cx="936104" cy="4281339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1110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12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59D221-8BAB-8B78-1F55-ECA04294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2" y="1844824"/>
            <a:ext cx="8568950" cy="4608512"/>
          </a:xfrm>
        </p:spPr>
        <p:txBody>
          <a:bodyPr>
            <a:noAutofit/>
          </a:bodyPr>
          <a:lstStyle/>
          <a:p>
            <a:r>
              <a:rPr lang="ru-RU" sz="2500" dirty="0">
                <a:ea typeface="Segoe UI Historic" panose="020B0502040204020203" pitchFamily="34" charset="0"/>
                <a:cs typeface="Segoe UI Historic" panose="020B0502040204020203" pitchFamily="34" charset="0"/>
              </a:rPr>
              <a:t>Появление интернета стало революцией в </a:t>
            </a:r>
            <a:r>
              <a:rPr lang="ru-RU" sz="2400" dirty="0">
                <a:ea typeface="Segoe UI Historic" panose="020B0502040204020203" pitchFamily="34" charset="0"/>
                <a:cs typeface="Segoe UI Historic" panose="020B0502040204020203" pitchFamily="34" charset="0"/>
              </a:rPr>
              <a:t>социальной</a:t>
            </a:r>
            <a:r>
              <a:rPr lang="ru-RU" sz="2500" dirty="0">
                <a:ea typeface="Segoe UI Historic" panose="020B0502040204020203" pitchFamily="34" charset="0"/>
                <a:cs typeface="Segoe UI Historic" panose="020B0502040204020203" pitchFamily="34" charset="0"/>
              </a:rPr>
              <a:t> культуре, принеся как огромные возможности, так и серьезные вызовы. С одной стороны, это мощный ресурс для образования, общения и инноваций. С другой — источник рисков для психического здоровья и социальных отношений. Чтобы интернет служил во благо, необходимо развивать цифровую грамотность, сохранять баланс между виртуальным и реальным миром и использовать сеть осознанно. Будущее социальной культуры зависит от того, насколько мудро мы распорядимся этим инструментом.</a:t>
            </a:r>
            <a:br>
              <a:rPr lang="ru-RU" sz="2500" dirty="0">
                <a:ea typeface="Segoe UI Historic" panose="020B0502040204020203" pitchFamily="34" charset="0"/>
                <a:cs typeface="Segoe UI Historic" panose="020B0502040204020203" pitchFamily="34" charset="0"/>
              </a:rPr>
            </a:br>
            <a:endParaRPr lang="ru-RU" sz="2500" dirty="0">
              <a:ea typeface="Segoe UI Historic" panose="020B0502040204020203" pitchFamily="34" charset="0"/>
              <a:cs typeface="Segoe UI Historic" panose="020B0502040204020203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707322-3A32-A868-3498-94985B099D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521" y="116633"/>
            <a:ext cx="6408712" cy="1362076"/>
          </a:xfrm>
        </p:spPr>
        <p:txBody>
          <a:bodyPr>
            <a:normAutofit/>
          </a:bodyPr>
          <a:lstStyle/>
          <a:p>
            <a:r>
              <a:rPr lang="ru-RU" sz="7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1673820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43570-5452-F81C-F44A-D61F1B846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2060848"/>
            <a:ext cx="8027169" cy="4248472"/>
          </a:xfrm>
        </p:spPr>
        <p:txBody>
          <a:bodyPr>
            <a:noAutofit/>
          </a:bodyPr>
          <a:lstStyle/>
          <a:p>
            <a:pPr lvl="0"/>
            <a:r>
              <a:rPr lang="ru-RU" sz="2400" dirty="0">
                <a:latin typeface="Franklin Gothic Medium Cond" panose="020B0606030402020204" pitchFamily="34" charset="0"/>
              </a:rPr>
              <a:t>Кастельс М. «Информационная эпоха: экономика, общество и культура». – М., 2000.</a:t>
            </a:r>
            <a:br>
              <a:rPr lang="ru-RU" sz="2400" dirty="0">
                <a:latin typeface="Franklin Gothic Medium Cond" panose="020B0606030402020204" pitchFamily="34" charset="0"/>
              </a:rPr>
            </a:br>
            <a:r>
              <a:rPr lang="ru-RU" sz="2400" dirty="0">
                <a:latin typeface="Franklin Gothic Medium Cond" panose="020B0606030402020204" pitchFamily="34" charset="0"/>
              </a:rPr>
              <a:t>Интернет-ресурсы: статьи из научных журналов, данные исследований ВЦИОМ и ФОМ.</a:t>
            </a:r>
            <a:br>
              <a:rPr lang="ru-RU" sz="2400" dirty="0">
                <a:latin typeface="Franklin Gothic Medium Cond" panose="020B0606030402020204" pitchFamily="34" charset="0"/>
              </a:rPr>
            </a:br>
            <a:r>
              <a:rPr lang="ru-RU" sz="2400" dirty="0">
                <a:latin typeface="Franklin Gothic Medium Cond" panose="020B0606030402020204" pitchFamily="34" charset="0"/>
              </a:rPr>
              <a:t>Материалы сайта «Цифровая грамотность» (проект РОЦИТ).</a:t>
            </a:r>
            <a:br>
              <a:rPr lang="ru-RU" sz="2400" dirty="0">
                <a:latin typeface="Franklin Gothic Medium Cond" panose="020B0606030402020204" pitchFamily="34" charset="0"/>
              </a:rPr>
            </a:br>
            <a:r>
              <a:rPr lang="ru-RU" sz="2400" dirty="0">
                <a:latin typeface="Franklin Gothic Medium Cond" panose="020B0606030402020204" pitchFamily="34" charset="0"/>
              </a:rPr>
              <a:t>Результаты проведенного опроса среди учеников.</a:t>
            </a:r>
            <a:br>
              <a:rPr lang="ru-RU" sz="2400" dirty="0">
                <a:latin typeface="Franklin Gothic Medium Cond" panose="020B0606030402020204" pitchFamily="34" charset="0"/>
              </a:rPr>
            </a:br>
            <a:r>
              <a:rPr lang="ru-RU" sz="2400" dirty="0">
                <a:latin typeface="Franklin Gothic Medium Cond" panose="020B0606030402020204" pitchFamily="34" charset="0"/>
              </a:rPr>
              <a:t>__________________________________________________</a:t>
            </a:r>
            <a:br>
              <a:rPr lang="ru-RU" sz="2400" dirty="0">
                <a:latin typeface="Franklin Gothic Medium Cond" panose="020B0606030402020204" pitchFamily="34" charset="0"/>
              </a:rPr>
            </a:br>
            <a:br>
              <a:rPr lang="ru-RU" sz="2400" dirty="0">
                <a:latin typeface="Franklin Gothic Medium Cond" panose="020B0606030402020204" pitchFamily="34" charset="0"/>
              </a:rPr>
            </a:br>
            <a:r>
              <a:rPr lang="ru-RU" sz="2400" dirty="0">
                <a:latin typeface="Franklin Gothic Medium Cond" panose="020B0606030402020204" pitchFamily="34" charset="0"/>
              </a:rPr>
              <a:t>Приложение: Анкета для опроса и диаграммы с результатами.</a:t>
            </a:r>
            <a:br>
              <a:rPr lang="ru-RU" sz="2400" dirty="0">
                <a:latin typeface="Franklin Gothic Medium Cond" panose="020B0606030402020204" pitchFamily="34" charset="0"/>
              </a:rPr>
            </a:br>
            <a:endParaRPr lang="ru-RU" sz="2400" dirty="0">
              <a:latin typeface="Franklin Gothic Medium Cond" panose="020B0606030402020204" pitchFamily="34" charset="0"/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7B35EA-8DBD-4FC7-2940-D9C5B8CA8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1520" y="188640"/>
            <a:ext cx="6408712" cy="1224136"/>
          </a:xfrm>
        </p:spPr>
        <p:txBody>
          <a:bodyPr>
            <a:normAutofit/>
          </a:bodyPr>
          <a:lstStyle/>
          <a:p>
            <a:r>
              <a:rPr lang="ru-RU" sz="3600" b="1" dirty="0">
                <a:solidFill>
                  <a:schemeClr val="bg1"/>
                </a:solidFill>
                <a:latin typeface="Franklin Gothic Demi Cond" panose="020B0706030402020204" pitchFamily="34" charset="0"/>
              </a:rPr>
              <a:t>Список использованных источников:</a:t>
            </a:r>
            <a:endParaRPr lang="ru-RU" sz="3600" dirty="0">
              <a:solidFill>
                <a:schemeClr val="bg1"/>
              </a:solidFill>
              <a:latin typeface="Franklin Gothic Demi Cond" panose="020B07060304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1953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14485fe74a0da48734ef1aaad617fbe6b767b"/>
</p:tagLst>
</file>

<file path=ppt/theme/theme1.xml><?xml version="1.0" encoding="utf-8"?>
<a:theme xmlns:a="http://schemas.openxmlformats.org/drawingml/2006/main" name="Тема Office">
  <a:themeElements>
    <a:clrScheme name="Волна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</TotalTime>
  <Words>716</Words>
  <Application>Microsoft Office PowerPoint</Application>
  <PresentationFormat>Экран (4:3)</PresentationFormat>
  <Paragraphs>42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44" baseType="lpstr">
      <vt:lpstr>Microsoft YaHei UI</vt:lpstr>
      <vt:lpstr>Arial</vt:lpstr>
      <vt:lpstr>Arial Narrow</vt:lpstr>
      <vt:lpstr>Bahnschrift</vt:lpstr>
      <vt:lpstr>Bahnschrift Condensed</vt:lpstr>
      <vt:lpstr>Bahnschrift Light</vt:lpstr>
      <vt:lpstr>Bahnschrift SemiLight Condensed</vt:lpstr>
      <vt:lpstr>Book Antiqua</vt:lpstr>
      <vt:lpstr>Bookman Old Style</vt:lpstr>
      <vt:lpstr>Calibri</vt:lpstr>
      <vt:lpstr>Candara</vt:lpstr>
      <vt:lpstr>Cascadia Code ExtraLight</vt:lpstr>
      <vt:lpstr>Cascadia Code Light</vt:lpstr>
      <vt:lpstr>Cascadia Mono SemiBold</vt:lpstr>
      <vt:lpstr>Cascadia Mono SemiLight</vt:lpstr>
      <vt:lpstr>Comic Sans MS</vt:lpstr>
      <vt:lpstr>Constantia</vt:lpstr>
      <vt:lpstr>Courier New</vt:lpstr>
      <vt:lpstr>Franklin Gothic Demi</vt:lpstr>
      <vt:lpstr>Franklin Gothic Demi Cond</vt:lpstr>
      <vt:lpstr>Franklin Gothic Medium Cond</vt:lpstr>
      <vt:lpstr>Gabriola</vt:lpstr>
      <vt:lpstr>Ink Free</vt:lpstr>
      <vt:lpstr>Monotype Corsiva</vt:lpstr>
      <vt:lpstr>Palatino Linotype</vt:lpstr>
      <vt:lpstr>Segoe Script</vt:lpstr>
      <vt:lpstr>Segoe UI Historic</vt:lpstr>
      <vt:lpstr>Segoe UI Semibold</vt:lpstr>
      <vt:lpstr>Sitka Banner Semibold</vt:lpstr>
      <vt:lpstr>Тема Office</vt:lpstr>
      <vt:lpstr>Тема: Плюсы и минусы появления интернета в социальной культуре . </vt:lpstr>
      <vt:lpstr>Презентация PowerPoint</vt:lpstr>
      <vt:lpstr>Презентация PowerPoint</vt:lpstr>
      <vt:lpstr>Плюсы влияния интернета на социальную культуру.</vt:lpstr>
      <vt:lpstr>Презентация PowerPoint</vt:lpstr>
      <vt:lpstr>  </vt:lpstr>
      <vt:lpstr>Минусы влияния интернета на социальную культуру. </vt:lpstr>
      <vt:lpstr>Презентация PowerPoint</vt:lpstr>
      <vt:lpstr>Презентация PowerPoint</vt:lpstr>
      <vt:lpstr>Презентация PowerPoint</vt:lpstr>
      <vt:lpstr>        </vt:lpstr>
      <vt:lpstr>Вывод по опросу:</vt:lpstr>
      <vt:lpstr>Появление интернета стало революцией в социальной культуре, принеся как огромные возможности, так и серьезные вызовы. С одной стороны, это мощный ресурс для образования, общения и инноваций. С другой — источник рисков для психического здоровья и социальных отношений. Чтобы интернет служил во благо, необходимо развивать цифровую грамотность, сохранять баланс между виртуальным и реальным миром и использовать сеть осознанно. Будущее социальной культуры зависит от того, насколько мудро мы распорядимся этим инструментом. </vt:lpstr>
      <vt:lpstr>Кастельс М. «Информационная эпоха: экономика, общество и культура». – М., 2000. Интернет-ресурсы: статьи из научных журналов, данные исследований ВЦИОМ и ФОМ. Материалы сайта «Цифровая грамотность» (проект РОЦИТ). Результаты проведенного опроса среди учеников. __________________________________________________  Приложение: Анкета для опроса и диаграммы с результатами. </vt:lpstr>
    </vt:vector>
  </TitlesOfParts>
  <Company>http://presentation-creation.ru/</Company>
  <LinksUpToDate>false</LinksUpToDate>
  <SharedDoc>false</SharedDoc>
  <HyperlinkBase>http://presentation-creation.ru/powerpoint-templates.html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Шаблон презентации "Интернет для бизнеса"</dc:title>
  <dc:creator>obstinate</dc:creator>
  <cp:keywords>шаблон презентации, шаблон для презентации</cp:keywords>
  <dc:description>Шаблон презентации с сайта http://presentation-creation.ru</dc:description>
  <cp:lastModifiedBy>Пользователь</cp:lastModifiedBy>
  <cp:revision>19</cp:revision>
  <dcterms:created xsi:type="dcterms:W3CDTF">2017-12-25T06:18:05Z</dcterms:created>
  <dcterms:modified xsi:type="dcterms:W3CDTF">2026-02-19T11:51:14Z</dcterms:modified>
</cp:coreProperties>
</file>